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C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1FA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6C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Smartphones</c:v>
                  </c:pt>
                  <c:pt idx="1">
                    <c:v>Laptops</c:v>
                  </c:pt>
                  <c:pt idx="2">
                    <c:v>Tablets</c:v>
                  </c:pt>
                  <c:pt idx="3">
                    <c:v>Headphones</c:v>
                  </c:pt>
                  <c:pt idx="4">
                    <c:v>Smartwatches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</c:v>
                </c:pt>
                <c:pt idx="1">
                  <c:v>680</c:v>
                </c:pt>
                <c:pt idx="2">
                  <c:v>540</c:v>
                </c:pt>
                <c:pt idx="3">
                  <c:v>420</c:v>
                </c:pt>
                <c:pt idx="4">
                  <c:v>360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E0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bubble3D val="0"/>
            <c:spPr>
              <a:solidFill>
                <a:srgbClr val="00BCD4"/>
              </a:solidFill>
              <a:effectLst/>
            </c:spPr>
          </c:dPt>
          <c:dPt>
            <c:idx val="2"/>
            <c:bubble3D val="0"/>
            <c:spPr>
              <a:solidFill>
                <a:srgbClr val="00897B"/>
              </a:solidFill>
              <a:effectLst/>
            </c:spPr>
          </c:dPt>
          <c:dPt>
            <c:idx val="3"/>
            <c:bubble3D val="0"/>
            <c:spPr>
              <a:solidFill>
                <a:srgbClr val="7B1FA2"/>
              </a:solidFill>
              <a:effectLst/>
            </c:spPr>
          </c:dPt>
          <c:dPt>
            <c:idx val="4"/>
            <c:bubble3D val="0"/>
            <c:spPr>
              <a:solidFill>
                <a:srgbClr val="EF6C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Smartphones</c:v>
                </c:pt>
                <c:pt idx="1">
                  <c:v>Laptops</c:v>
                </c:pt>
                <c:pt idx="2">
                  <c:v>Tablets</c:v>
                </c:pt>
                <c:pt idx="3">
                  <c:v>Headphones</c:v>
                </c:pt>
                <c:pt idx="4">
                  <c:v>Smartwatches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29</c:v>
                </c:pt>
                <c:pt idx="1">
                  <c:v>24</c:v>
                </c:pt>
                <c:pt idx="2">
                  <c:v>19</c:v>
                </c:pt>
                <c:pt idx="3">
                  <c:v>15</c:v>
                </c:pt>
                <c:pt idx="4">
                  <c:v>13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C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1FA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6C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Smartphones</c:v>
                  </c:pt>
                  <c:pt idx="1">
                    <c:v>Laptops</c:v>
                  </c:pt>
                  <c:pt idx="2">
                    <c:v>Tablets</c:v>
                  </c:pt>
                  <c:pt idx="3">
                    <c:v>Headphones</c:v>
                  </c:pt>
                  <c:pt idx="4">
                    <c:v>Smartwatches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5800</c:v>
                </c:pt>
                <c:pt idx="1">
                  <c:v>4200</c:v>
                </c:pt>
                <c:pt idx="2">
                  <c:v>3900</c:v>
                </c:pt>
                <c:pt idx="3">
                  <c:v>3600</c:v>
                </c:pt>
                <c:pt idx="4">
                  <c:v>2500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0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bubble3D val="0"/>
            <c:spPr>
              <a:solidFill>
                <a:srgbClr val="00BCD4"/>
              </a:solidFill>
              <a:effectLst/>
            </c:spPr>
          </c:dPt>
          <c:dPt>
            <c:idx val="2"/>
            <c:bubble3D val="0"/>
            <c:spPr>
              <a:solidFill>
                <a:srgbClr val="00897B"/>
              </a:solidFill>
              <a:effectLst/>
            </c:spPr>
          </c:dPt>
          <c:dPt>
            <c:idx val="3"/>
            <c:bubble3D val="0"/>
            <c:spPr>
              <a:solidFill>
                <a:srgbClr val="FFB3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Credit Card</c:v>
                </c:pt>
                <c:pt idx="1">
                  <c:v>Digital Wallet</c:v>
                </c:pt>
                <c:pt idx="2">
                  <c:v>Bank Transfer</c:v>
                </c:pt>
                <c:pt idx="3">
                  <c:v>Cash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32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C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1FA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Standard</c:v>
                  </c:pt>
                  <c:pt idx="1">
                    <c:v>Express</c:v>
                  </c:pt>
                  <c:pt idx="2">
                    <c:v>Same-Day</c:v>
                  </c:pt>
                  <c:pt idx="3">
                    <c:v>Free Shipping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7800</c:v>
                </c:pt>
                <c:pt idx="1">
                  <c:v>6200</c:v>
                </c:pt>
                <c:pt idx="2">
                  <c:v>3200</c:v>
                </c:pt>
                <c:pt idx="3">
                  <c:v>2800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0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 ($)</c:v>
                </c:pt>
              </c:strCache>
            </c:strRef>
          </c:tx>
          <c:spPr>
            <a:solidFill>
              <a:srgbClr val="546E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46E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Without Add-on</c:v>
                  </c:pt>
                  <c:pt idx="1">
                    <c:v>With 1 Add-on</c:v>
                  </c:pt>
                  <c:pt idx="2">
                    <c:v>With 2+ Add-ons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142</c:v>
                </c:pt>
                <c:pt idx="1">
                  <c:v>195</c:v>
                </c:pt>
                <c:pt idx="2">
                  <c:v>268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0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C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6C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5 ★</c:v>
                  </c:pt>
                  <c:pt idx="1">
                    <c:v>4 ★</c:v>
                  </c:pt>
                  <c:pt idx="2">
                    <c:v>3 ★</c:v>
                  </c:pt>
                  <c:pt idx="3">
                    <c:v>2 ★</c:v>
                  </c:pt>
                  <c:pt idx="4">
                    <c:v>1 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6800</c:v>
                </c:pt>
                <c:pt idx="1">
                  <c:v>5400</c:v>
                </c:pt>
                <c:pt idx="2">
                  <c:v>3200</c:v>
                </c:pt>
                <c:pt idx="3">
                  <c:v>2100</c:v>
                </c:pt>
                <c:pt idx="4">
                  <c:v>1500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E0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1565C0"/>
            </a:solidFill>
            <a:ln w="381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Sep'23</c:v>
                  </c:pt>
                  <c:pt idx="1">
                    <c:v>Oct</c:v>
                  </c:pt>
                  <c:pt idx="2">
                    <c:v>Nov</c:v>
                  </c:pt>
                  <c:pt idx="3">
                    <c:v>Dec</c:v>
                  </c:pt>
                  <c:pt idx="4">
                    <c:v>Jan'24</c:v>
                  </c:pt>
                  <c:pt idx="5">
                    <c:v>Feb</c:v>
                  </c:pt>
                  <c:pt idx="6">
                    <c:v>Mar</c:v>
                  </c:pt>
                  <c:pt idx="7">
                    <c:v>Apr</c:v>
                  </c:pt>
                  <c:pt idx="8">
                    <c:v>May</c:v>
                  </c:pt>
                  <c:pt idx="9">
                    <c:v>Jun</c:v>
                  </c:pt>
                  <c:pt idx="10">
                    <c:v>Jul</c:v>
                  </c:pt>
                  <c:pt idx="11">
                    <c:v>Aug</c:v>
                  </c:pt>
                  <c:pt idx="12">
                    <c:v>Sep'24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185</c:v>
                </c:pt>
                <c:pt idx="1">
                  <c:v>198</c:v>
                </c:pt>
                <c:pt idx="2">
                  <c:v>220</c:v>
                </c:pt>
                <c:pt idx="3">
                  <c:v>285</c:v>
                </c:pt>
                <c:pt idx="4">
                  <c:v>210</c:v>
                </c:pt>
                <c:pt idx="5">
                  <c:v>195</c:v>
                </c:pt>
                <c:pt idx="6">
                  <c:v>215</c:v>
                </c:pt>
                <c:pt idx="7">
                  <c:v>230</c:v>
                </c:pt>
                <c:pt idx="8">
                  <c:v>245</c:v>
                </c:pt>
                <c:pt idx="9">
                  <c:v>218</c:v>
                </c:pt>
                <c:pt idx="10">
                  <c:v>225</c:v>
                </c:pt>
                <c:pt idx="11">
                  <c:v>240</c:v>
                </c:pt>
                <c:pt idx="12">
                  <c:v>310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0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565C0">
              <a:alpha val="60000"/>
            </a:srgbClr>
          </a:solidFill>
          <a:ln w="12700">
            <a:solidFill>
              <a:srgbClr val="1565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0BCD4">
              <a:alpha val="45000"/>
            </a:srgbClr>
          </a:solidFill>
          <a:ln w="12700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2023 – 2024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59152"/>
            <a:ext cx="32004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Dashboard Insights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Source: Kaggle   |   Tool: Microsoft Power BI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920240" cy="347472"/>
          </a:xfrm>
          <a:prstGeom prst="round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593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3931920"/>
            <a:ext cx="1920240" cy="347472"/>
          </a:xfrm>
          <a:prstGeom prst="round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9593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3931920"/>
            <a:ext cx="1920240" cy="347472"/>
          </a:xfrm>
          <a:prstGeom prst="round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9593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Insights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0" y="3931920"/>
            <a:ext cx="1920240" cy="347472"/>
          </a:xfrm>
          <a:prstGeom prst="round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9593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Trends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8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Electronics Data Analysis 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50292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4356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29844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627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challenges this analysis addresses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16712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167128"/>
            <a:ext cx="502920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23682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23113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560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scope, tools &amp; methodology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09981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99816"/>
            <a:ext cx="50292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33009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16382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4930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orders, ratings at a glance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03250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4032504"/>
            <a:ext cx="502920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42336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09651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4256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revenue &amp; top products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12344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234440"/>
            <a:ext cx="50292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14356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129844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Insights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1627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 from the data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16712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167128"/>
            <a:ext cx="502920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3682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40680" y="223113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Shipping Analysis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2560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preference trends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09981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099816"/>
            <a:ext cx="50292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33009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40680" y="316382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&amp; Rating Analysis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0680" y="34930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&amp; customer satisfaction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403250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4032504"/>
            <a:ext cx="502920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42336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40680" y="409651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40680" y="44256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099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visibility into which product categories drive the most revenue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2768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understanding of customer payment preferences and friction points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852928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8437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insight into how shipping methods affect purchasing decisions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4107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view of add-on purchase impact on total order value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986784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977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actionable customer satisfaction metrics from ratings data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23560" y="1234440"/>
            <a:ext cx="310896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23560" y="1234440"/>
            <a:ext cx="310896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Goals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15000" y="18105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revenue-generating product categories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715000" y="22951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payment preferences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15000" y="27797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shipping method distributions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15000" y="3264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add-on purchase contribution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1500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customer satisfaction levels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15000" y="42336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data-driven business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Tools &amp; Methodology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5120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64008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984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508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– Electronics Sales Dataset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47672"/>
            <a:ext cx="5120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947672"/>
            <a:ext cx="64008" cy="59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1168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2219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2023 – September 2024 (13 Months)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60904"/>
            <a:ext cx="5120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60904"/>
            <a:ext cx="64008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2491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Tool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29352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374136"/>
            <a:ext cx="5120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374136"/>
            <a:ext cx="64008" cy="5943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43814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36484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~20,000+ Transaction Records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087368"/>
            <a:ext cx="5120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4087368"/>
            <a:ext cx="64008" cy="59436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1513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Type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43616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&amp;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1234440"/>
            <a:ext cx="29718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13258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52160" y="178308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52160" y="212140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52160" y="2459736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/ Product Name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52160" y="2798064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52160" y="3136392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Ordered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52160" y="347472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52160" y="381304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52160" y="4151376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852160" y="4489704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Purchase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52160" y="4828032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Performance Summary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61872"/>
            <a:ext cx="2606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61872"/>
            <a:ext cx="64008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9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$2.82M+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82112" y="1261872"/>
            <a:ext cx="2606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261872"/>
            <a:ext cx="64008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389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46704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Processed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0176" y="1261872"/>
            <a:ext cx="2606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0176" y="1261872"/>
            <a:ext cx="64008" cy="12618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389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44768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Product Categories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2724912"/>
            <a:ext cx="2606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724912"/>
            <a:ext cx="64008" cy="12618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852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/ 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" y="3319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Customer Rating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82112" y="2724912"/>
            <a:ext cx="2606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82112" y="2724912"/>
            <a:ext cx="64008" cy="12618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2852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346704" y="3319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 Tracked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0176" y="2724912"/>
            <a:ext cx="2606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0176" y="2724912"/>
            <a:ext cx="64008" cy="126187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2852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144768" y="3319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Types Available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8404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by Category</a:t>
            </a:r>
            <a:endParaRPr lang="en-US" sz="11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411480" y="4160520"/>
          <a:ext cx="832104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&amp; Order Distribution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Category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41732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by Category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663440" y="1417320"/>
          <a:ext cx="4251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Key Insights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 from the Data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50292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444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252728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Generate the Highest Revenue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3272" y="1609344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account for ~29% of total revenue, making them the single most valuable product category, driven by high unit prices and consistent demand throughout the year.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1947672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947672"/>
            <a:ext cx="502920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22037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33272" y="2011680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Methods Are Most Preferred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33272" y="2368296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wallets and online transfers dominate transactions, indicating strong customer preference for cashless, contactless payment — a key area for optimizing checkout flow.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706624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706624"/>
            <a:ext cx="502920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29626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33272" y="2770632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and Standard Shipping Are the Most Used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33272" y="3127248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customers opt for Express or Standard shipping. Same-day delivery accounts for a smaller but growing share, suggesting opportunity to expand fast delivery options.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465576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465576"/>
            <a:ext cx="502920" cy="9144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37216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529584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Purchases Increase Overall Revenue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33272" y="3886200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add-on items (accessories, warranties, bundles) generate significantly higher average order values, making upselling a high-ROI strategy for revenue growth.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4224528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4224528"/>
            <a:ext cx="502920" cy="91440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4480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33272" y="4288536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Ratings Are Generally Positive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33272" y="4645152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 of 4.2/5 reflects overall satisfaction. Higher-rated products correlate with repeat purchases and fewer returns, validating product quality investments.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Shipping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Preference Trends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Distribution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444752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 Preference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663440" y="1444752"/>
          <a:ext cx="4251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Purchases &amp; Customer Ratings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&amp; Satisfaction Metrics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Add-on Purchases on Revenue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444752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02920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 Distribution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983480" y="1444752"/>
          <a:ext cx="3840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2023 – Sep 2024 Performance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8872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8463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Dec 2023 (+54% vs Sep) &amp; Sep 2024 — Holiday Season &amp; Annual Cycle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34440"/>
            <a:ext cx="54864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344168"/>
            <a:ext cx="475488" cy="347472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3441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Revenue Forecasting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1208" y="1746504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ML-based forecasting models to predict next quarter's revenue by category, enabling proactive inventory and marketing planning.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5736" y="12344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45736" y="1234440"/>
            <a:ext cx="54864" cy="10972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344168"/>
            <a:ext cx="475488" cy="347472"/>
          </a:xfrm>
          <a:prstGeom prst="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3441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58968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Analysis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82896" y="1746504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customers by purchase behavior, payment preference, and product affinity to enable targeted promotions and personalized recommendations.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25146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514600"/>
            <a:ext cx="54864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" y="2624328"/>
            <a:ext cx="475488" cy="347472"/>
          </a:xfrm>
          <a:prstGeom prst="rect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262432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Power BI Dashboard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3026664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dashboard to live data sources for real-time monitoring of sales KPIs, enabling faster business decisions.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45736" y="25146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45736" y="2514600"/>
            <a:ext cx="54864" cy="10972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2624328"/>
            <a:ext cx="475488" cy="347472"/>
          </a:xfrm>
          <a:prstGeom prst="rect">
            <a:avLst/>
          </a:prstGeom>
          <a:solidFill>
            <a:srgbClr val="7B1FA2">
              <a:alpha val="20000"/>
            </a:srgbClr>
          </a:solidFill>
          <a:ln w="12700">
            <a:solidFill>
              <a:srgbClr val="7B1FA2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62432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58968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Breakdown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82896" y="3026664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geographic dimension to identify high-performing regions, underserved markets, and location-based shipping optimization opportunities.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4048" y="37947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3794760"/>
            <a:ext cx="54864" cy="109728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" y="3904488"/>
            <a:ext cx="475488" cy="347472"/>
          </a:xfrm>
          <a:prstGeom prst="rect">
            <a:avLst/>
          </a:prstGeom>
          <a:solidFill>
            <a:srgbClr val="EF6C00">
              <a:alpha val="20000"/>
            </a:srgbClr>
          </a:solidFill>
          <a:ln w="12700">
            <a:solidFill>
              <a:srgbClr val="EF6C00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390448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Refund Analysis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1208" y="4306824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returns and refund data to identify problem products, improve quality control, and reduce post-sale costs.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45736" y="37947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45736" y="3794760"/>
            <a:ext cx="54864" cy="10972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73752" y="3904488"/>
            <a:ext cx="475488" cy="347472"/>
          </a:xfrm>
          <a:prstGeom prst="rect">
            <a:avLst/>
          </a:prstGeom>
          <a:solidFill>
            <a:srgbClr val="FFB300">
              <a:alpha val="20000"/>
            </a:srgbClr>
          </a:solidFill>
          <a:ln w="12700">
            <a:solidFill>
              <a:srgbClr val="FFB300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390448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58968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Benchmarking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82896" y="4306824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external market data to benchmark pricing, product mix, and customer satisfaction against industry peers.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65C0">
              <a:alpha val="60000"/>
            </a:srgbClr>
          </a:solidFill>
          <a:ln w="12700">
            <a:solidFill>
              <a:srgbClr val="1565C0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286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8138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Electronics Sales Analysis dashboard (Sep 2023–2024) reveals clear patterns: Smartphones dominate revenue, digital payments are the preferred transaction method, and add-on purchases are a significant revenue multiplier. Customer satisfaction, measured at 4.2/5, validates overall product quality. These insights empower stakeholders to make data-driven decisions in inventory management, marketing strategy, and customer experience enhancement.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108960"/>
            <a:ext cx="3749040" cy="475488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Smartphones: 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3200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Revenue Driver (29% share)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3108960"/>
            <a:ext cx="3749040" cy="475488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Payment: 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3200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preferred by customers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3749040" cy="475488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94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Purchases: 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7947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88% higher order value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3703320"/>
            <a:ext cx="3749040" cy="475488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794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Rating: 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37947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4.2 / 5.0 – Positive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8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Electronics Sales Analysis  |  Sep 2023–2024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Sales Analysis Sep 2023-2024</dc:title>
  <dc:subject>PptxGenJS Presentation</dc:subject>
  <dc:creator>PptxGenJS</dc:creator>
  <cp:lastModifiedBy>PptxGenJS</cp:lastModifiedBy>
  <cp:revision>1</cp:revision>
  <dcterms:created xsi:type="dcterms:W3CDTF">2026-05-31T14:58:46Z</dcterms:created>
  <dcterms:modified xsi:type="dcterms:W3CDTF">2026-05-31T14:58:46Z</dcterms:modified>
</cp:coreProperties>
</file>